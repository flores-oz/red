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322" r:id="rId2"/>
    <p:sldId id="323" r:id="rId3"/>
    <p:sldId id="325" r:id="rId4"/>
    <p:sldId id="326" r:id="rId5"/>
    <p:sldId id="329" r:id="rId6"/>
    <p:sldId id="283" r:id="rId7"/>
    <p:sldId id="287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71" r:id="rId16"/>
    <p:sldId id="264" r:id="rId17"/>
    <p:sldId id="272" r:id="rId18"/>
    <p:sldId id="273" r:id="rId19"/>
    <p:sldId id="274" r:id="rId20"/>
    <p:sldId id="309" r:id="rId21"/>
    <p:sldId id="268" r:id="rId22"/>
    <p:sldId id="310" r:id="rId23"/>
    <p:sldId id="311" r:id="rId24"/>
    <p:sldId id="313" r:id="rId25"/>
    <p:sldId id="308" r:id="rId26"/>
    <p:sldId id="312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GT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DD19BE-B6CF-446F-A393-D6898B8959FC}" type="datetimeFigureOut">
              <a:rPr lang="es-GT" smtClean="0"/>
              <a:t>19/08/2026</a:t>
            </a:fld>
            <a:endParaRPr lang="es-GT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GT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GT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B89FBD-B656-4856-8E34-73DE538E35E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764489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 txBox="1">
            <a:spLocks noGrp="1"/>
          </p:cNvSpPr>
          <p:nvPr>
            <p:ph type="body" idx="1"/>
          </p:nvPr>
        </p:nvSpPr>
        <p:spPr>
          <a:xfrm>
            <a:off x="946150" y="4862512"/>
            <a:ext cx="5207000" cy="4605337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 txBox="1">
            <a:spLocks noGrp="1"/>
          </p:cNvSpPr>
          <p:nvPr>
            <p:ph type="body" idx="1"/>
          </p:nvPr>
        </p:nvSpPr>
        <p:spPr>
          <a:xfrm>
            <a:off x="946150" y="4862512"/>
            <a:ext cx="5207000" cy="4605337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>
            <a:spLocks noGrp="1"/>
          </p:cNvSpPr>
          <p:nvPr>
            <p:ph type="body" idx="1"/>
          </p:nvPr>
        </p:nvSpPr>
        <p:spPr>
          <a:xfrm>
            <a:off x="946150" y="4862512"/>
            <a:ext cx="5207000" cy="4605337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>
            <a:spLocks noGrp="1"/>
          </p:cNvSpPr>
          <p:nvPr>
            <p:ph type="body" idx="1"/>
          </p:nvPr>
        </p:nvSpPr>
        <p:spPr>
          <a:xfrm>
            <a:off x="946150" y="4862512"/>
            <a:ext cx="5207000" cy="4605337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:notes"/>
          <p:cNvSpPr txBox="1">
            <a:spLocks noGrp="1"/>
          </p:cNvSpPr>
          <p:nvPr>
            <p:ph type="body" idx="1"/>
          </p:nvPr>
        </p:nvSpPr>
        <p:spPr>
          <a:xfrm>
            <a:off x="946150" y="4862512"/>
            <a:ext cx="5207000" cy="4605337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:notes"/>
          <p:cNvSpPr txBox="1">
            <a:spLocks noGrp="1"/>
          </p:cNvSpPr>
          <p:nvPr>
            <p:ph type="body" idx="1"/>
          </p:nvPr>
        </p:nvSpPr>
        <p:spPr>
          <a:xfrm>
            <a:off x="946150" y="4862512"/>
            <a:ext cx="5207000" cy="4605337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2:notes"/>
          <p:cNvSpPr txBox="1">
            <a:spLocks noGrp="1"/>
          </p:cNvSpPr>
          <p:nvPr>
            <p:ph type="body" idx="1"/>
          </p:nvPr>
        </p:nvSpPr>
        <p:spPr>
          <a:xfrm>
            <a:off x="946150" y="4862512"/>
            <a:ext cx="5207000" cy="4605337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C6FCB-EFE0-4470-AFF0-26D11422EB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2A6109-9DD9-46E2-9B32-13F7810BE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EF7CBB-E7D7-457D-AD96-5C25482B6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17F31-B036-4A1B-A322-51B86C4B7398}" type="datetimeFigureOut">
              <a:rPr lang="es-GT" smtClean="0"/>
              <a:t>19/08/2026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3F5248-DCEA-47B9-A7D4-0A4146AE0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11A11C-6C93-43B6-BC06-71E013AD3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53DFE-586C-4646-B0C4-E5C95A7482A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04761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1298A8-8E9F-4245-A6D1-9A667DB11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4FD02C-C9B2-4F5F-B5A4-C03F76D9C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694C58-25D7-434C-A581-7BBA4B93C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17F31-B036-4A1B-A322-51B86C4B7398}" type="datetimeFigureOut">
              <a:rPr lang="es-GT" smtClean="0"/>
              <a:t>19/08/2026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6B233F-6988-4CA9-8DBE-8D35B642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994E1C-A499-4EFF-9731-07C67D6BF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53DFE-586C-4646-B0C4-E5C95A7482A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326447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BBBF29-356C-4CCD-81D0-460C39ACD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7007B4-C1E7-4FA4-9363-26C1FC7A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9F86F5-E267-44B2-902D-45197EBF3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17F31-B036-4A1B-A322-51B86C4B7398}" type="datetimeFigureOut">
              <a:rPr lang="es-GT" smtClean="0"/>
              <a:t>19/08/2026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CA7A7D-1946-4820-B96A-CDDA8C25D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BF2025-27E5-4472-815E-CE2672270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53DFE-586C-4646-B0C4-E5C95A7482A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919605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B4926-FCBC-42A2-A6CB-787935B3F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A93D94-6BC9-4E03-AAE5-BB3C71729D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7FC5FE4-8152-42B9-8AA2-F6FAA42A7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748169-3B35-49ED-9B35-A3F208997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17F31-B036-4A1B-A322-51B86C4B7398}" type="datetimeFigureOut">
              <a:rPr lang="es-GT" smtClean="0"/>
              <a:t>19/08/2026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CA4845-0F9B-438B-AC26-061254CF6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69CD87-2597-49A6-B07C-A263AD16C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53DFE-586C-4646-B0C4-E5C95A7482A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694007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B8CB6B-8850-4251-AE51-6B5F7823F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CE0271-93AF-4720-AD71-EC4B7C7E7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B21EEB5-EEB4-444E-B89F-D8DD8B827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2B1C6E0-B811-4F1C-8A7B-F52952D844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86304-2260-49DF-978A-24454382D9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AB7B3C7-2FED-4AB1-AA58-6740B9C49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17F31-B036-4A1B-A322-51B86C4B7398}" type="datetimeFigureOut">
              <a:rPr lang="es-GT" smtClean="0"/>
              <a:t>19/08/2026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9461420-DE5E-4781-9415-963F1C4C2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4ADD9D6-C206-4C82-9297-32226A0A2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53DFE-586C-4646-B0C4-E5C95A7482A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00715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15C0AD-5088-48CC-8E74-1D3336CD5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3CDFC65-45D3-4F97-B18B-4219B8B71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17F31-B036-4A1B-A322-51B86C4B7398}" type="datetimeFigureOut">
              <a:rPr lang="es-GT" smtClean="0"/>
              <a:t>19/08/2026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2BF0EB5-5280-4A83-B4E4-406679261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A72058E-8B88-437B-8168-CC0B09D1C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53DFE-586C-4646-B0C4-E5C95A7482A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674153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5738AA6-5152-4816-84AA-7961656E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17F31-B036-4A1B-A322-51B86C4B7398}" type="datetimeFigureOut">
              <a:rPr lang="es-GT" smtClean="0"/>
              <a:t>19/08/2026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AADF75A-5CBF-42D1-AEC1-D05C4114F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77A8E9F-8A65-43CD-A509-7B39A2391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53DFE-586C-4646-B0C4-E5C95A7482A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061366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35BB3-8273-479C-9E2E-307052E4C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69EE2A-9BC1-47B4-A796-B13826007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AAA26C-92F1-461C-BAA2-D421AE306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BFDBD4-F136-4806-B518-B92BFECBC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17F31-B036-4A1B-A322-51B86C4B7398}" type="datetimeFigureOut">
              <a:rPr lang="es-GT" smtClean="0"/>
              <a:t>19/08/2026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9DA9AAE-6FFB-4959-BC91-E915DEF6D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009BF4-E053-4F69-866C-CD0BEFEFB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53DFE-586C-4646-B0C4-E5C95A7482A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26230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FC10D-6A0D-403E-9F6D-4F84DAC0C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CAF9B7D-2BBD-4554-B1D1-9D48AFC9A9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77B832D-9B87-4392-A9FE-7BCF7E921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C7BC3D-B7F8-4CB0-9C2D-6A152DCAD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17F31-B036-4A1B-A322-51B86C4B7398}" type="datetimeFigureOut">
              <a:rPr lang="es-GT" smtClean="0"/>
              <a:t>19/08/2026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2D50F3-C47E-49BF-9A22-B46E0D289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DC5DEA-7835-411E-B5C2-7814B5107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53DFE-586C-4646-B0C4-E5C95A7482A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43938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C998D7-482F-491A-9F8E-DCD524029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BBF29E-2833-42D9-AAE2-C91837FDD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5AF47F-B9E3-4DD2-AF95-C40ECAA83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17F31-B036-4A1B-A322-51B86C4B7398}" type="datetimeFigureOut">
              <a:rPr lang="es-GT" smtClean="0"/>
              <a:t>19/08/2026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6C24B9-2DFF-4D37-AA04-410F55CB0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746844-95E0-415D-8861-4A1158E30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53DFE-586C-4646-B0C4-E5C95A7482A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517796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7739FB-D665-4FE6-A197-F3EC4842F8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3F8328-985E-4953-934B-13CCBEFCA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177D8D-7FCE-497B-BA6C-ADB99A5C9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17F31-B036-4A1B-A322-51B86C4B7398}" type="datetimeFigureOut">
              <a:rPr lang="es-GT" smtClean="0"/>
              <a:t>19/08/2026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BF5ABA-726E-4600-BC4E-F2846911A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6D4E91-0C9D-4E0F-BF28-8D71F2ADB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53DFE-586C-4646-B0C4-E5C95A7482A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963572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75EB9C7-3729-4282-81AE-CDF0EC90C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2F5D2D-9EA1-4E16-9942-9BB6EF800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984DA8-322C-4A73-93A8-BD0B18668E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17F31-B036-4A1B-A322-51B86C4B7398}" type="datetimeFigureOut">
              <a:rPr lang="es-GT" smtClean="0"/>
              <a:t>19/08/2026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6838F4-3D2C-4732-B614-1FF11D791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AB8D1D-2120-4BCF-9C20-00D92536F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953DFE-586C-4646-B0C4-E5C95A7482AC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271635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"/>
          <p:cNvSpPr txBox="1">
            <a:spLocks noGrp="1"/>
          </p:cNvSpPr>
          <p:nvPr>
            <p:ph type="ctrTitle"/>
          </p:nvPr>
        </p:nvSpPr>
        <p:spPr>
          <a:xfrm>
            <a:off x="2286000" y="2667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4000"/>
            </a:pPr>
            <a:r>
              <a:rPr lang="en-US" sz="40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Modelos de networking</a:t>
            </a:r>
            <a:br>
              <a:rPr lang="en-US" sz="40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TCP/IP y OSI/ISO</a:t>
            </a:r>
            <a:endParaRPr/>
          </a:p>
        </p:txBody>
      </p:sp>
      <p:sp>
        <p:nvSpPr>
          <p:cNvPr id="141" name="Google Shape;141;p1"/>
          <p:cNvSpPr txBox="1">
            <a:spLocks noGrp="1"/>
          </p:cNvSpPr>
          <p:nvPr>
            <p:ph type="subTitle" idx="1"/>
          </p:nvPr>
        </p:nvSpPr>
        <p:spPr>
          <a:xfrm>
            <a:off x="2362200" y="47244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buSzPts val="30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describir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comunicación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entre dos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computadores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concepto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capas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capas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"/>
          <p:cNvSpPr txBox="1"/>
          <p:nvPr/>
        </p:nvSpPr>
        <p:spPr>
          <a:xfrm>
            <a:off x="9601200" y="66294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000"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algn="r">
                <a:buClr>
                  <a:schemeClr val="dk1"/>
                </a:buClr>
                <a:buSzPts val="1000"/>
              </a:pPr>
              <a:t>2</a:t>
            </a:fld>
            <a:endParaRPr/>
          </a:p>
        </p:txBody>
      </p:sp>
      <p:sp>
        <p:nvSpPr>
          <p:cNvPr id="147" name="Google Shape;147;p2"/>
          <p:cNvSpPr txBox="1">
            <a:spLocks noGrp="1"/>
          </p:cNvSpPr>
          <p:nvPr>
            <p:ph type="title"/>
          </p:nvPr>
        </p:nvSpPr>
        <p:spPr>
          <a:xfrm>
            <a:off x="1905000" y="914400"/>
            <a:ext cx="8458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200"/>
            </a:pPr>
            <a:r>
              <a:rPr lang="en-US"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El ancho de banda</a:t>
            </a:r>
            <a:endParaRPr/>
          </a:p>
        </p:txBody>
      </p:sp>
      <p:pic>
        <p:nvPicPr>
          <p:cNvPr id="148" name="Google Shape;14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1703" y="2279726"/>
            <a:ext cx="3616362" cy="3002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55;p3">
            <a:extLst>
              <a:ext uri="{FF2B5EF4-FFF2-40B4-BE49-F238E27FC236}">
                <a16:creationId xmlns:a16="http://schemas.microsoft.com/office/drawing/2014/main" id="{C35216D9-D633-4D69-BEC8-B82AD36B3D7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3683" y="2279726"/>
            <a:ext cx="4461737" cy="3002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 txBox="1"/>
          <p:nvPr/>
        </p:nvSpPr>
        <p:spPr>
          <a:xfrm>
            <a:off x="9601200" y="66294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000"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algn="r">
                <a:buClr>
                  <a:schemeClr val="dk1"/>
                </a:buClr>
                <a:buSzPts val="1000"/>
              </a:pPr>
              <a:t>3</a:t>
            </a:fld>
            <a:endParaRPr/>
          </a:p>
        </p:txBody>
      </p:sp>
      <p:sp>
        <p:nvSpPr>
          <p:cNvPr id="161" name="Google Shape;161;p4"/>
          <p:cNvSpPr txBox="1">
            <a:spLocks noGrp="1"/>
          </p:cNvSpPr>
          <p:nvPr>
            <p:ph type="title"/>
          </p:nvPr>
        </p:nvSpPr>
        <p:spPr>
          <a:xfrm>
            <a:off x="1905000" y="914400"/>
            <a:ext cx="8458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200"/>
            </a:pPr>
            <a:r>
              <a:rPr lang="en-US"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Medición</a:t>
            </a:r>
            <a:endParaRPr/>
          </a:p>
        </p:txBody>
      </p:sp>
      <p:sp>
        <p:nvSpPr>
          <p:cNvPr id="162" name="Google Shape;162;p4"/>
          <p:cNvSpPr txBox="1">
            <a:spLocks noGrp="1"/>
          </p:cNvSpPr>
          <p:nvPr>
            <p:ph type="body" idx="1"/>
          </p:nvPr>
        </p:nvSpPr>
        <p:spPr>
          <a:xfrm>
            <a:off x="1905000" y="4495800"/>
            <a:ext cx="85344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rgbClr val="009999"/>
              </a:buClr>
              <a:buSzPts val="3000"/>
              <a:buFont typeface="Arial"/>
              <a:buChar char="•"/>
            </a:pP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Conexión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gigabit ethernet 1Gbps</a:t>
            </a:r>
            <a:endParaRPr dirty="0"/>
          </a:p>
          <a:p>
            <a:pPr marL="342900" indent="-342900">
              <a:lnSpc>
                <a:spcPct val="100000"/>
              </a:lnSpc>
              <a:spcBef>
                <a:spcPts val="480"/>
              </a:spcBef>
              <a:buClr>
                <a:srgbClr val="009999"/>
              </a:buClr>
              <a:buSzPts val="3000"/>
              <a:buFont typeface="Arial"/>
              <a:buChar char="•"/>
            </a:pP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conexión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T1 a 1.544Mbps </a:t>
            </a:r>
            <a:endParaRPr dirty="0"/>
          </a:p>
          <a:p>
            <a:pPr marL="342900" indent="-342900">
              <a:lnSpc>
                <a:spcPct val="100000"/>
              </a:lnSpc>
              <a:spcBef>
                <a:spcPts val="480"/>
              </a:spcBef>
              <a:buClr>
                <a:srgbClr val="009999"/>
              </a:buClr>
              <a:buSzPts val="3000"/>
              <a:buFont typeface="Arial"/>
              <a:buChar char="•"/>
            </a:pP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conexión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T3 a 45Mbps</a:t>
            </a:r>
            <a:endParaRPr dirty="0"/>
          </a:p>
          <a:p>
            <a:pPr marL="342900" indent="-342900">
              <a:lnSpc>
                <a:spcPct val="100000"/>
              </a:lnSpc>
              <a:spcBef>
                <a:spcPts val="480"/>
              </a:spcBef>
              <a:buClr>
                <a:srgbClr val="009999"/>
              </a:buClr>
              <a:buSzPts val="30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Cable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submarino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fibra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monomodo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1.4 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Tbps</a:t>
            </a:r>
            <a:endParaRPr dirty="0"/>
          </a:p>
        </p:txBody>
      </p:sp>
      <p:pic>
        <p:nvPicPr>
          <p:cNvPr id="163" name="Google Shape;16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3600" y="1447801"/>
            <a:ext cx="8001000" cy="2662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 txBox="1"/>
          <p:nvPr/>
        </p:nvSpPr>
        <p:spPr>
          <a:xfrm>
            <a:off x="9407562" y="623764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000"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algn="r">
                <a:buClr>
                  <a:schemeClr val="dk1"/>
                </a:buClr>
                <a:buSzPts val="1000"/>
              </a:pPr>
              <a:t>4</a:t>
            </a:fld>
            <a:endParaRPr/>
          </a:p>
        </p:txBody>
      </p:sp>
      <p:sp>
        <p:nvSpPr>
          <p:cNvPr id="169" name="Google Shape;169;p5"/>
          <p:cNvSpPr txBox="1">
            <a:spLocks noGrp="1"/>
          </p:cNvSpPr>
          <p:nvPr>
            <p:ph type="title"/>
          </p:nvPr>
        </p:nvSpPr>
        <p:spPr>
          <a:xfrm>
            <a:off x="1905000" y="609600"/>
            <a:ext cx="8458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200"/>
            </a:pPr>
            <a:r>
              <a:rPr lang="en-US" sz="3200" b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Limitaciones</a:t>
            </a:r>
            <a:endParaRPr/>
          </a:p>
        </p:txBody>
      </p:sp>
      <p:sp>
        <p:nvSpPr>
          <p:cNvPr id="170" name="Google Shape;170;p5"/>
          <p:cNvSpPr txBox="1">
            <a:spLocks noGrp="1"/>
          </p:cNvSpPr>
          <p:nvPr>
            <p:ph type="body" idx="1"/>
          </p:nvPr>
        </p:nvSpPr>
        <p:spPr>
          <a:xfrm>
            <a:off x="1828800" y="1295400"/>
            <a:ext cx="853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rgbClr val="009999"/>
              </a:buClr>
              <a:buSzPts val="30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Anchos de banda y distancias máximas</a:t>
            </a:r>
            <a:endParaRPr/>
          </a:p>
        </p:txBody>
      </p:sp>
      <p:pic>
        <p:nvPicPr>
          <p:cNvPr id="171" name="Google Shape;17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162" y="2069952"/>
            <a:ext cx="4098664" cy="3786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78;p6">
            <a:extLst>
              <a:ext uri="{FF2B5EF4-FFF2-40B4-BE49-F238E27FC236}">
                <a16:creationId xmlns:a16="http://schemas.microsoft.com/office/drawing/2014/main" id="{62D4DE7B-CF60-4E03-A3A4-3AA7D10A0C0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07499" y="2069952"/>
            <a:ext cx="4238176" cy="3786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"/>
          <p:cNvSpPr txBox="1"/>
          <p:nvPr/>
        </p:nvSpPr>
        <p:spPr>
          <a:xfrm>
            <a:off x="9601200" y="66294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000"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algn="r">
                <a:buClr>
                  <a:schemeClr val="dk1"/>
                </a:buClr>
                <a:buSzPts val="1000"/>
              </a:pPr>
              <a:t>5</a:t>
            </a:fld>
            <a:endParaRPr/>
          </a:p>
        </p:txBody>
      </p:sp>
      <p:sp>
        <p:nvSpPr>
          <p:cNvPr id="262" name="Google Shape;262;p17"/>
          <p:cNvSpPr txBox="1">
            <a:spLocks noGrp="1"/>
          </p:cNvSpPr>
          <p:nvPr>
            <p:ph type="title"/>
          </p:nvPr>
        </p:nvSpPr>
        <p:spPr>
          <a:xfrm>
            <a:off x="6283362" y="1592132"/>
            <a:ext cx="3387997" cy="609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200"/>
            </a:pPr>
            <a:r>
              <a:rPr lang="en-US" sz="32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Modelo OSI/ISO</a:t>
            </a:r>
            <a:endParaRPr dirty="0"/>
          </a:p>
        </p:txBody>
      </p:sp>
      <p:pic>
        <p:nvPicPr>
          <p:cNvPr id="264" name="Google Shape;26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6403" y="2076683"/>
            <a:ext cx="1874520" cy="3529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99005" y="2076683"/>
            <a:ext cx="1878377" cy="352917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62;p17">
            <a:extLst>
              <a:ext uri="{FF2B5EF4-FFF2-40B4-BE49-F238E27FC236}">
                <a16:creationId xmlns:a16="http://schemas.microsoft.com/office/drawing/2014/main" id="{4CB49CA4-9936-4239-8CE3-E13D78F4B9D7}"/>
              </a:ext>
            </a:extLst>
          </p:cNvPr>
          <p:cNvSpPr txBox="1">
            <a:spLocks/>
          </p:cNvSpPr>
          <p:nvPr/>
        </p:nvSpPr>
        <p:spPr>
          <a:xfrm>
            <a:off x="2057400" y="1592132"/>
            <a:ext cx="3235597" cy="609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200"/>
            </a:pPr>
            <a:r>
              <a:rPr lang="es-MX" sz="32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Modelo TCP/IP</a:t>
            </a:r>
            <a:endParaRPr lang="es-MX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CC402D4-8BAC-4FA5-92D4-8CC0D99A9AA5}"/>
              </a:ext>
            </a:extLst>
          </p:cNvPr>
          <p:cNvCxnSpPr>
            <a:cxnSpLocks/>
          </p:cNvCxnSpPr>
          <p:nvPr/>
        </p:nvCxnSpPr>
        <p:spPr>
          <a:xfrm>
            <a:off x="914399" y="3582296"/>
            <a:ext cx="10155220" cy="0"/>
          </a:xfrm>
          <a:prstGeom prst="line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E601FB5-F07A-4905-8CC2-187A26AB6B28}"/>
              </a:ext>
            </a:extLst>
          </p:cNvPr>
          <p:cNvCxnSpPr>
            <a:cxnSpLocks/>
          </p:cNvCxnSpPr>
          <p:nvPr/>
        </p:nvCxnSpPr>
        <p:spPr>
          <a:xfrm>
            <a:off x="910810" y="4068183"/>
            <a:ext cx="10155220" cy="0"/>
          </a:xfrm>
          <a:prstGeom prst="line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04B6C9A-6317-4F10-9589-E44D43A8E24B}"/>
              </a:ext>
            </a:extLst>
          </p:cNvPr>
          <p:cNvCxnSpPr>
            <a:cxnSpLocks/>
          </p:cNvCxnSpPr>
          <p:nvPr/>
        </p:nvCxnSpPr>
        <p:spPr>
          <a:xfrm>
            <a:off x="910810" y="4543314"/>
            <a:ext cx="10155220" cy="0"/>
          </a:xfrm>
          <a:prstGeom prst="line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8"/>
          <p:cNvSpPr txBox="1"/>
          <p:nvPr/>
        </p:nvSpPr>
        <p:spPr>
          <a:xfrm>
            <a:off x="9601200" y="66294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000"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algn="r">
                <a:buClr>
                  <a:schemeClr val="dk1"/>
                </a:buClr>
                <a:buSzPts val="1000"/>
              </a:pPr>
              <a:t>6</a:t>
            </a:fld>
            <a:endParaRPr/>
          </a:p>
        </p:txBody>
      </p:sp>
      <p:sp>
        <p:nvSpPr>
          <p:cNvPr id="342" name="Google Shape;342;p28"/>
          <p:cNvSpPr txBox="1">
            <a:spLocks noGrp="1"/>
          </p:cNvSpPr>
          <p:nvPr>
            <p:ph type="title"/>
          </p:nvPr>
        </p:nvSpPr>
        <p:spPr>
          <a:xfrm>
            <a:off x="1905000" y="914400"/>
            <a:ext cx="8458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200"/>
            </a:pPr>
            <a:r>
              <a:rPr lang="en-US" sz="3200" b="1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Protocolos</a:t>
            </a:r>
            <a:r>
              <a:rPr lang="en-US" sz="3200" b="1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de TCP/IP</a:t>
            </a:r>
            <a:endParaRPr dirty="0"/>
          </a:p>
        </p:txBody>
      </p:sp>
      <p:pic>
        <p:nvPicPr>
          <p:cNvPr id="343" name="Google Shape;343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1515" y="1752600"/>
            <a:ext cx="7696200" cy="450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2C20ADAB-6B2E-4374-BE0C-7D2F555F449A}"/>
              </a:ext>
            </a:extLst>
          </p:cNvPr>
          <p:cNvSpPr txBox="1"/>
          <p:nvPr/>
        </p:nvSpPr>
        <p:spPr>
          <a:xfrm>
            <a:off x="839096" y="5680038"/>
            <a:ext cx="195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>
                <a:latin typeface="+mj-lt"/>
              </a:rPr>
              <a:t>Capa Acceso a Red</a:t>
            </a:r>
            <a:endParaRPr lang="es-GT" b="1" dirty="0">
              <a:latin typeface="+mj-lt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EDE587F-63B9-4433-BE43-51FD82C3A89F}"/>
              </a:ext>
            </a:extLst>
          </p:cNvPr>
          <p:cNvSpPr txBox="1"/>
          <p:nvPr/>
        </p:nvSpPr>
        <p:spPr>
          <a:xfrm>
            <a:off x="839095" y="4476974"/>
            <a:ext cx="1424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>
                <a:latin typeface="+mj-lt"/>
              </a:rPr>
              <a:t>Capa Internet</a:t>
            </a:r>
            <a:endParaRPr lang="es-GT" b="1" dirty="0">
              <a:latin typeface="+mj-lt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8C510C1-55B7-4233-BCAF-73C0487CB0CA}"/>
              </a:ext>
            </a:extLst>
          </p:cNvPr>
          <p:cNvSpPr txBox="1"/>
          <p:nvPr/>
        </p:nvSpPr>
        <p:spPr>
          <a:xfrm>
            <a:off x="839095" y="3273910"/>
            <a:ext cx="1947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>
                <a:latin typeface="+mj-lt"/>
              </a:rPr>
              <a:t>Capa de Transporte</a:t>
            </a:r>
            <a:endParaRPr lang="es-GT" b="1" dirty="0">
              <a:latin typeface="+mj-lt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47CE70D-464C-4546-B9B1-131D5F1AE4E2}"/>
              </a:ext>
            </a:extLst>
          </p:cNvPr>
          <p:cNvSpPr txBox="1"/>
          <p:nvPr/>
        </p:nvSpPr>
        <p:spPr>
          <a:xfrm>
            <a:off x="848585" y="1959257"/>
            <a:ext cx="1948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>
                <a:latin typeface="+mj-lt"/>
              </a:rPr>
              <a:t>Capa de Aplicación </a:t>
            </a:r>
            <a:endParaRPr lang="es-GT" b="1" dirty="0">
              <a:latin typeface="+mj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2D9EDCA4-6CFB-40B8-B37E-A699BDBA335D}"/>
              </a:ext>
            </a:extLst>
          </p:cNvPr>
          <p:cNvCxnSpPr>
            <a:cxnSpLocks/>
          </p:cNvCxnSpPr>
          <p:nvPr/>
        </p:nvCxnSpPr>
        <p:spPr>
          <a:xfrm>
            <a:off x="839095" y="2807746"/>
            <a:ext cx="10155220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C767F328-E588-4188-B1C5-075E86F5D903}"/>
              </a:ext>
            </a:extLst>
          </p:cNvPr>
          <p:cNvCxnSpPr>
            <a:cxnSpLocks/>
          </p:cNvCxnSpPr>
          <p:nvPr/>
        </p:nvCxnSpPr>
        <p:spPr>
          <a:xfrm>
            <a:off x="848585" y="4006850"/>
            <a:ext cx="10155220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514D22C-AA4F-4A81-9837-93B72E01671D}"/>
              </a:ext>
            </a:extLst>
          </p:cNvPr>
          <p:cNvCxnSpPr>
            <a:cxnSpLocks/>
          </p:cNvCxnSpPr>
          <p:nvPr/>
        </p:nvCxnSpPr>
        <p:spPr>
          <a:xfrm>
            <a:off x="848585" y="5256530"/>
            <a:ext cx="10155220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2"/>
          <p:cNvSpPr txBox="1"/>
          <p:nvPr/>
        </p:nvSpPr>
        <p:spPr>
          <a:xfrm>
            <a:off x="9601200" y="66294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>
              <a:buClr>
                <a:schemeClr val="dk1"/>
              </a:buClr>
              <a:buSzPts val="1000"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algn="r">
                <a:buClr>
                  <a:schemeClr val="dk1"/>
                </a:buClr>
                <a:buSzPts val="1000"/>
              </a:pPr>
              <a:t>7</a:t>
            </a:fld>
            <a:endParaRPr/>
          </a:p>
        </p:txBody>
      </p:sp>
      <p:sp>
        <p:nvSpPr>
          <p:cNvPr id="371" name="Google Shape;371;p32"/>
          <p:cNvSpPr txBox="1">
            <a:spLocks noGrp="1"/>
          </p:cNvSpPr>
          <p:nvPr>
            <p:ph type="title"/>
          </p:nvPr>
        </p:nvSpPr>
        <p:spPr>
          <a:xfrm>
            <a:off x="1905000" y="582930"/>
            <a:ext cx="8458200" cy="9410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3200"/>
            </a:pPr>
            <a:r>
              <a:rPr lang="en-US" sz="36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Proceso</a:t>
            </a:r>
            <a:r>
              <a:rPr lang="en-US" sz="3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detallado</a:t>
            </a:r>
            <a:r>
              <a:rPr lang="en-US" sz="36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3600" b="1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encapsulamiento</a:t>
            </a:r>
            <a:endParaRPr sz="3600" b="1" dirty="0"/>
          </a:p>
        </p:txBody>
      </p:sp>
      <p:pic>
        <p:nvPicPr>
          <p:cNvPr id="372" name="Google Shape;37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3600" y="1600201"/>
            <a:ext cx="8077200" cy="4872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99AA2B-2EDF-4989-B6AF-42D0B14AA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Modelo de referencia OSI/ISO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D37624-0500-4A40-93AD-4DC3FA779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OSI – Open </a:t>
            </a:r>
            <a:r>
              <a:rPr lang="es-ES" dirty="0" err="1"/>
              <a:t>Systems</a:t>
            </a:r>
            <a:r>
              <a:rPr lang="es-ES" dirty="0"/>
              <a:t> </a:t>
            </a:r>
            <a:r>
              <a:rPr lang="es-ES" dirty="0" err="1"/>
              <a:t>Interconnection</a:t>
            </a:r>
            <a:endParaRPr lang="es-GT" dirty="0"/>
          </a:p>
          <a:p>
            <a:pPr marL="0" indent="0">
              <a:buNone/>
            </a:pPr>
            <a:endParaRPr lang="es-GT" dirty="0"/>
          </a:p>
          <a:p>
            <a:pPr marL="0" indent="0">
              <a:buNone/>
            </a:pPr>
            <a:r>
              <a:rPr lang="es-GT" dirty="0"/>
              <a:t>Creado por:</a:t>
            </a:r>
          </a:p>
          <a:p>
            <a:r>
              <a:rPr lang="es-GT" dirty="0"/>
              <a:t>ISO – International </a:t>
            </a:r>
            <a:r>
              <a:rPr lang="es-GT" dirty="0" err="1"/>
              <a:t>Organization</a:t>
            </a:r>
            <a:r>
              <a:rPr lang="es-GT" dirty="0"/>
              <a:t> </a:t>
            </a:r>
            <a:r>
              <a:rPr lang="es-GT" dirty="0" err="1"/>
              <a:t>for</a:t>
            </a:r>
            <a:r>
              <a:rPr lang="es-GT" dirty="0"/>
              <a:t> </a:t>
            </a:r>
            <a:r>
              <a:rPr lang="es-GT" dirty="0" err="1"/>
              <a:t>Standarization</a:t>
            </a:r>
            <a:endParaRPr lang="es-GT" dirty="0"/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27754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6DC3B-E26A-4D9C-8953-6A29161BC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ISO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B95E7E-77D5-414A-A4B6-35FAD4DCF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ISO en griego significa “Igual”</a:t>
            </a:r>
          </a:p>
          <a:p>
            <a:pPr lvl="1"/>
            <a:r>
              <a:rPr lang="es-ES" dirty="0"/>
              <a:t>Divide el proceso de comunicación en pequeños procesos y simples componentes.</a:t>
            </a:r>
          </a:p>
          <a:p>
            <a:pPr lvl="1"/>
            <a:r>
              <a:rPr lang="es-ES" dirty="0"/>
              <a:t>Cambios en una capa no afectan a otra</a:t>
            </a:r>
          </a:p>
          <a:p>
            <a:pPr lvl="1"/>
            <a:r>
              <a:rPr lang="es-ES" dirty="0"/>
              <a:t>Promueve la estandarización definiendo lo que ocurrirá en cada capa del modelo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086718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214DA6-4CC5-4720-926A-EFFA464BF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Agrupando las capas en funciones</a:t>
            </a:r>
            <a:endParaRPr lang="es-GT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22F7B16-9EC7-43BD-B78D-8609D6CE7B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0602" y="2477081"/>
            <a:ext cx="4810796" cy="3048425"/>
          </a:xfrm>
        </p:spPr>
      </p:pic>
    </p:spTree>
    <p:extLst>
      <p:ext uri="{BB962C8B-B14F-4D97-AF65-F5344CB8AC3E}">
        <p14:creationId xmlns:p14="http://schemas.microsoft.com/office/powerpoint/2010/main" val="3596933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767EBE-BE23-48F1-A5DA-8574B4FF5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Capas superiores</a:t>
            </a:r>
            <a:endParaRPr lang="es-GT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F79135-DB79-447B-B341-AFEB36302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s-GT" b="1" dirty="0"/>
              <a:t>Capa de Aplicación: </a:t>
            </a:r>
            <a:r>
              <a:rPr lang="es-GT" dirty="0"/>
              <a:t>Responsable de proveer servicios de red.</a:t>
            </a:r>
          </a:p>
          <a:p>
            <a:pPr>
              <a:buFont typeface="Arial" pitchFamily="34" charset="0"/>
              <a:buChar char="•"/>
            </a:pPr>
            <a:r>
              <a:rPr lang="es-GT" b="1" dirty="0"/>
              <a:t>Capa de Presentación: </a:t>
            </a:r>
            <a:r>
              <a:rPr lang="es-GT" dirty="0"/>
              <a:t>Servicios de Traducción.</a:t>
            </a:r>
          </a:p>
          <a:p>
            <a:pPr>
              <a:buFont typeface="Arial" pitchFamily="34" charset="0"/>
              <a:buChar char="•"/>
            </a:pPr>
            <a:r>
              <a:rPr lang="es-GT" b="1" dirty="0"/>
              <a:t>Capa de Sesión: </a:t>
            </a:r>
            <a:r>
              <a:rPr lang="es-GT" dirty="0"/>
              <a:t>Control de dialogo, mantendrá los datos de aplicaciones separados de otros datos de aplicaciones de otros usuarios.</a:t>
            </a:r>
          </a:p>
          <a:p>
            <a:endParaRPr lang="es-GT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D000B64-E285-443B-9FAF-8EF293338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09954" y="4624388"/>
            <a:ext cx="540067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05595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EBD18D-BD1D-48F0-9307-86A9EC9D1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Capas intermedias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1E91B9-BE2A-44DF-8BF2-6598BD5F2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Ruteo (Capa Network) y conexiones extremo-extremo (Capa de Transporte)</a:t>
            </a:r>
            <a:endParaRPr lang="es-GT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6AA59CB-47DA-487E-813A-87AD4D97A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76608" y="3467894"/>
            <a:ext cx="424815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96393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5959B5-66EA-4B93-825B-53E2C1A29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Capas inferiores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C9F5A5-1038-48E6-B73C-35225AF7D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Framming</a:t>
            </a:r>
            <a:r>
              <a:rPr lang="es-ES" dirty="0"/>
              <a:t> y topología física </a:t>
            </a:r>
            <a:endParaRPr lang="es-G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7C2D2C-188C-4B9A-82D2-B065A210A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62372" y="4343382"/>
            <a:ext cx="3886200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55858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EA37C7-E9AC-4888-BE3F-6269B5681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Ejemplos de la capa de aplicación 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4B52E5-C258-4723-BACB-0177CA068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 capa de aplicación identifica y establece la disponibilidad de comunicación entre pares.</a:t>
            </a:r>
            <a:endParaRPr lang="es-GT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D79A313-8D56-4EE1-89FF-E99B2D89B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023" y="3052577"/>
            <a:ext cx="4143953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317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2289949" y="4049588"/>
            <a:ext cx="80724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b="1" dirty="0"/>
              <a:t>Telnet </a:t>
            </a:r>
            <a:r>
              <a:rPr lang="es-GT" dirty="0"/>
              <a:t>(</a:t>
            </a:r>
            <a:r>
              <a:rPr lang="es-GT" b="1" dirty="0" err="1"/>
              <a:t>TELecommunication</a:t>
            </a:r>
            <a:r>
              <a:rPr lang="es-GT" b="1" dirty="0"/>
              <a:t> </a:t>
            </a:r>
            <a:r>
              <a:rPr lang="es-GT" b="1" dirty="0" err="1"/>
              <a:t>NETwork</a:t>
            </a:r>
            <a:r>
              <a:rPr lang="es-GT" dirty="0"/>
              <a:t>) </a:t>
            </a:r>
            <a:r>
              <a:rPr lang="es-GT" b="1" dirty="0"/>
              <a:t>: </a:t>
            </a:r>
            <a:r>
              <a:rPr lang="es-GT" dirty="0"/>
              <a:t>TCP.</a:t>
            </a:r>
          </a:p>
          <a:p>
            <a:r>
              <a:rPr lang="es-GT" b="1" dirty="0"/>
              <a:t>FTP (</a:t>
            </a:r>
            <a:r>
              <a:rPr lang="es-GT" b="1" dirty="0" err="1"/>
              <a:t>File</a:t>
            </a:r>
            <a:r>
              <a:rPr lang="es-GT" b="1" dirty="0"/>
              <a:t> </a:t>
            </a:r>
            <a:r>
              <a:rPr lang="es-GT" b="1" dirty="0" err="1"/>
              <a:t>Tranfer</a:t>
            </a:r>
            <a:r>
              <a:rPr lang="es-GT" b="1" dirty="0"/>
              <a:t> </a:t>
            </a:r>
            <a:r>
              <a:rPr lang="es-GT" b="1" dirty="0" err="1"/>
              <a:t>Protocol</a:t>
            </a:r>
            <a:r>
              <a:rPr lang="es-GT" b="1" dirty="0"/>
              <a:t>) : </a:t>
            </a:r>
            <a:r>
              <a:rPr lang="es-GT" dirty="0"/>
              <a:t>TCP.</a:t>
            </a:r>
          </a:p>
          <a:p>
            <a:r>
              <a:rPr lang="es-GT" b="1" dirty="0"/>
              <a:t>TFTP (</a:t>
            </a:r>
            <a:r>
              <a:rPr lang="es-GT" b="1" dirty="0" err="1"/>
              <a:t>File</a:t>
            </a:r>
            <a:r>
              <a:rPr lang="es-GT" b="1" dirty="0"/>
              <a:t> </a:t>
            </a:r>
            <a:r>
              <a:rPr lang="es-GT" b="1" dirty="0" err="1"/>
              <a:t>Tranfer</a:t>
            </a:r>
            <a:r>
              <a:rPr lang="es-GT" b="1" dirty="0"/>
              <a:t> </a:t>
            </a:r>
            <a:r>
              <a:rPr lang="es-GT" b="1" dirty="0" err="1"/>
              <a:t>Protocol</a:t>
            </a:r>
            <a:r>
              <a:rPr lang="es-GT" b="1" dirty="0"/>
              <a:t>) : </a:t>
            </a:r>
            <a:r>
              <a:rPr lang="es-GT" dirty="0"/>
              <a:t>UDP.</a:t>
            </a:r>
          </a:p>
          <a:p>
            <a:r>
              <a:rPr lang="es-GT" b="1" dirty="0"/>
              <a:t>SMTP (Simple Mail Transfer </a:t>
            </a:r>
            <a:r>
              <a:rPr lang="es-GT" b="1" dirty="0" err="1"/>
              <a:t>Protocol</a:t>
            </a:r>
            <a:r>
              <a:rPr lang="es-GT" b="1" dirty="0"/>
              <a:t>): </a:t>
            </a:r>
            <a:r>
              <a:rPr lang="es-GT" dirty="0"/>
              <a:t>TCP.</a:t>
            </a:r>
          </a:p>
          <a:p>
            <a:r>
              <a:rPr lang="es-GT" b="1" dirty="0"/>
              <a:t>HTTP y HTTPS: </a:t>
            </a:r>
            <a:r>
              <a:rPr lang="es-GT" b="1" dirty="0" err="1"/>
              <a:t>Hypertext</a:t>
            </a:r>
            <a:r>
              <a:rPr lang="es-GT" b="1" dirty="0"/>
              <a:t> Transfer </a:t>
            </a:r>
            <a:r>
              <a:rPr lang="es-GT" b="1" dirty="0" err="1"/>
              <a:t>Protocol</a:t>
            </a:r>
            <a:r>
              <a:rPr lang="es-GT" b="1" dirty="0"/>
              <a:t>, </a:t>
            </a:r>
            <a:r>
              <a:rPr lang="es-GT" dirty="0"/>
              <a:t> TCP.</a:t>
            </a:r>
          </a:p>
          <a:p>
            <a:r>
              <a:rPr lang="es-GT" b="1" dirty="0"/>
              <a:t>SNMP (Simple Network Management </a:t>
            </a:r>
            <a:r>
              <a:rPr lang="es-GT" b="1" dirty="0" err="1"/>
              <a:t>Protocol</a:t>
            </a:r>
            <a:r>
              <a:rPr lang="es-GT" b="1" dirty="0"/>
              <a:t>) : </a:t>
            </a:r>
            <a:r>
              <a:rPr lang="es-GT" dirty="0"/>
              <a:t>UCP. La versión 3 es TCP y UDP.</a:t>
            </a:r>
          </a:p>
          <a:p>
            <a:r>
              <a:rPr lang="es-GT" b="1" dirty="0"/>
              <a:t>DNS (</a:t>
            </a:r>
            <a:r>
              <a:rPr lang="es-GT" b="1" dirty="0" err="1"/>
              <a:t>Domain</a:t>
            </a:r>
            <a:r>
              <a:rPr lang="es-GT" b="1" dirty="0"/>
              <a:t> </a:t>
            </a:r>
            <a:r>
              <a:rPr lang="es-GT" b="1" dirty="0" err="1"/>
              <a:t>Name</a:t>
            </a:r>
            <a:r>
              <a:rPr lang="es-GT" b="1" dirty="0"/>
              <a:t> </a:t>
            </a:r>
            <a:r>
              <a:rPr lang="es-GT" b="1" dirty="0" err="1"/>
              <a:t>System</a:t>
            </a:r>
            <a:r>
              <a:rPr lang="es-GT" b="1" dirty="0"/>
              <a:t>): </a:t>
            </a:r>
            <a:r>
              <a:rPr lang="es-GT" dirty="0"/>
              <a:t>TCP Y UDP</a:t>
            </a:r>
            <a:r>
              <a:rPr lang="es-GT" b="1" dirty="0"/>
              <a:t>.</a:t>
            </a:r>
          </a:p>
          <a:p>
            <a:endParaRPr lang="es-GT" dirty="0"/>
          </a:p>
        </p:txBody>
      </p:sp>
      <p:sp>
        <p:nvSpPr>
          <p:cNvPr id="3" name="2 CuadroTexto"/>
          <p:cNvSpPr txBox="1"/>
          <p:nvPr/>
        </p:nvSpPr>
        <p:spPr>
          <a:xfrm>
            <a:off x="2095472" y="142852"/>
            <a:ext cx="80724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GT" b="1" dirty="0"/>
              <a:t>Servicios Orientados a Conexión y Servicios no Orientados a Conexión: </a:t>
            </a:r>
          </a:p>
          <a:p>
            <a:r>
              <a:rPr lang="es-GT" dirty="0" err="1"/>
              <a:t>Conecction</a:t>
            </a:r>
            <a:r>
              <a:rPr lang="es-GT" dirty="0"/>
              <a:t> </a:t>
            </a:r>
            <a:r>
              <a:rPr lang="es-GT" dirty="0" err="1"/>
              <a:t>Oriented</a:t>
            </a:r>
            <a:r>
              <a:rPr lang="es-GT" dirty="0"/>
              <a:t>: Recibiremos ACK de la información enviada y existirá confianza de que los datos llegan correctamente del punto A al punto B.</a:t>
            </a:r>
          </a:p>
          <a:p>
            <a:endParaRPr lang="es-GT" dirty="0"/>
          </a:p>
          <a:p>
            <a:pPr algn="just"/>
            <a:r>
              <a:rPr lang="es-GT" dirty="0"/>
              <a:t>Ejemplo de la oficina postal cuando utiliza servicio regular y servicio </a:t>
            </a:r>
            <a:r>
              <a:rPr lang="es-GT" dirty="0" err="1"/>
              <a:t>currier</a:t>
            </a:r>
            <a:r>
              <a:rPr lang="es-GT" dirty="0"/>
              <a:t>. En conclusión el servicio postal registrado es como el servicio orientado a conexión, es decir me indicarán si enviaron o no la carta, sin embargo tendrá costos adicionales y otros servicios adicionales para saber si la carta fue entregada ó no. Los datos son iguales.</a:t>
            </a:r>
          </a:p>
          <a:p>
            <a:pPr algn="just"/>
            <a:endParaRPr lang="es-GT" dirty="0"/>
          </a:p>
          <a:p>
            <a:pPr algn="just"/>
            <a:r>
              <a:rPr lang="es-GT" dirty="0"/>
              <a:t>Los protocolos en la capa de Transporte son: TCP y UDP.</a:t>
            </a:r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326887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CuadroTexto">
            <a:extLst>
              <a:ext uri="{FF2B5EF4-FFF2-40B4-BE49-F238E27FC236}">
                <a16:creationId xmlns:a16="http://schemas.microsoft.com/office/drawing/2014/main" id="{542DFE4B-8F47-4FE1-A332-733E99AE1C2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492125"/>
            <a:ext cx="10515600" cy="6363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400" b="1" dirty="0"/>
              <a:t>Telnet </a:t>
            </a:r>
            <a:r>
              <a:rPr lang="es-GT" sz="2400" dirty="0"/>
              <a:t>(</a:t>
            </a:r>
            <a:r>
              <a:rPr lang="es-GT" sz="2400" b="1" dirty="0" err="1"/>
              <a:t>TELecommunication</a:t>
            </a:r>
            <a:r>
              <a:rPr lang="es-GT" sz="2400" b="1" dirty="0"/>
              <a:t> </a:t>
            </a:r>
            <a:r>
              <a:rPr lang="es-GT" sz="2400" b="1" dirty="0" err="1"/>
              <a:t>NETwork</a:t>
            </a:r>
            <a:r>
              <a:rPr lang="es-GT" sz="2400" dirty="0"/>
              <a:t>) </a:t>
            </a:r>
            <a:r>
              <a:rPr lang="es-GT" sz="2400" b="1" dirty="0"/>
              <a:t>: </a:t>
            </a:r>
            <a:r>
              <a:rPr lang="es-GT" sz="2400" dirty="0"/>
              <a:t>Permite manejar remotamente otro equipo.  Hoy se utiliza SSH para abrir sesión con un equipo UNIX.</a:t>
            </a:r>
          </a:p>
          <a:p>
            <a:r>
              <a:rPr lang="es-GT" sz="2400" b="1" dirty="0"/>
              <a:t>FTP (</a:t>
            </a:r>
            <a:r>
              <a:rPr lang="es-GT" sz="2400" b="1" dirty="0" err="1"/>
              <a:t>File</a:t>
            </a:r>
            <a:r>
              <a:rPr lang="es-GT" sz="2400" b="1" dirty="0"/>
              <a:t> </a:t>
            </a:r>
            <a:r>
              <a:rPr lang="es-GT" sz="2400" b="1" dirty="0" err="1"/>
              <a:t>Tranfer</a:t>
            </a:r>
            <a:r>
              <a:rPr lang="es-GT" sz="2400" b="1" dirty="0"/>
              <a:t> </a:t>
            </a:r>
            <a:r>
              <a:rPr lang="es-GT" sz="2400" b="1" dirty="0" err="1"/>
              <a:t>Protocol</a:t>
            </a:r>
            <a:r>
              <a:rPr lang="es-GT" sz="2400" b="1" dirty="0"/>
              <a:t>) : </a:t>
            </a:r>
            <a:r>
              <a:rPr lang="es-GT" sz="2400" dirty="0"/>
              <a:t>Protocolo de transferencia de archivos.  Orientado a conexión.</a:t>
            </a:r>
          </a:p>
          <a:p>
            <a:r>
              <a:rPr lang="es-GT" sz="2400" b="1" dirty="0"/>
              <a:t>TFTP (</a:t>
            </a:r>
            <a:r>
              <a:rPr lang="es-GT" sz="2400" b="1" dirty="0" err="1"/>
              <a:t>File</a:t>
            </a:r>
            <a:r>
              <a:rPr lang="es-GT" sz="2400" b="1" dirty="0"/>
              <a:t> </a:t>
            </a:r>
            <a:r>
              <a:rPr lang="es-GT" sz="2400" b="1" dirty="0" err="1"/>
              <a:t>Tranfer</a:t>
            </a:r>
            <a:r>
              <a:rPr lang="es-GT" sz="2400" b="1" dirty="0"/>
              <a:t> </a:t>
            </a:r>
            <a:r>
              <a:rPr lang="es-GT" sz="2400" b="1" dirty="0" err="1"/>
              <a:t>Protocol</a:t>
            </a:r>
            <a:r>
              <a:rPr lang="es-GT" sz="2400" b="1" dirty="0"/>
              <a:t>) : </a:t>
            </a:r>
            <a:r>
              <a:rPr lang="es-GT" sz="2400" dirty="0"/>
              <a:t>Protocolo de transferencia de archivos.  No Orientado a conexión.</a:t>
            </a:r>
          </a:p>
          <a:p>
            <a:r>
              <a:rPr lang="es-GT" sz="2400" b="1" dirty="0"/>
              <a:t>SMTP (Simple Mail Transfer </a:t>
            </a:r>
            <a:r>
              <a:rPr lang="es-GT" sz="2400" b="1" dirty="0" err="1"/>
              <a:t>Protocol</a:t>
            </a:r>
            <a:r>
              <a:rPr lang="es-GT" sz="2400" b="1" dirty="0"/>
              <a:t>): </a:t>
            </a:r>
            <a:r>
              <a:rPr lang="es-GT" sz="2400" dirty="0"/>
              <a:t>Permite utilizar correos electrónicos.</a:t>
            </a:r>
          </a:p>
          <a:p>
            <a:r>
              <a:rPr lang="es-GT" sz="2400" b="1" dirty="0"/>
              <a:t>HTTP y HTTPS: </a:t>
            </a:r>
            <a:r>
              <a:rPr lang="es-GT" sz="2400" b="1" dirty="0" err="1"/>
              <a:t>Hypertext</a:t>
            </a:r>
            <a:r>
              <a:rPr lang="es-GT" sz="2400" b="1" dirty="0"/>
              <a:t> Transfer </a:t>
            </a:r>
            <a:r>
              <a:rPr lang="es-GT" sz="2400" b="1" dirty="0" err="1"/>
              <a:t>Protocol</a:t>
            </a:r>
            <a:r>
              <a:rPr lang="es-GT" sz="2400" b="1" dirty="0"/>
              <a:t>, </a:t>
            </a:r>
            <a:r>
              <a:rPr lang="es-GT" sz="2400" dirty="0"/>
              <a:t> Protocolo utilizado en la </a:t>
            </a:r>
            <a:r>
              <a:rPr lang="es-GT" sz="2400" dirty="0" err="1"/>
              <a:t>www</a:t>
            </a:r>
            <a:r>
              <a:rPr lang="es-GT" sz="2400" dirty="0"/>
              <a:t>. El HTTPS es utilizado para Seguridad.</a:t>
            </a:r>
          </a:p>
          <a:p>
            <a:r>
              <a:rPr lang="es-GT" sz="2400" b="1" dirty="0"/>
              <a:t>SNMP (Simple Network Management </a:t>
            </a:r>
            <a:r>
              <a:rPr lang="es-GT" sz="2400" b="1" dirty="0" err="1"/>
              <a:t>Protocol</a:t>
            </a:r>
            <a:r>
              <a:rPr lang="es-GT" sz="2400" b="1" dirty="0"/>
              <a:t>) : </a:t>
            </a:r>
            <a:r>
              <a:rPr lang="es-GT" sz="2400" dirty="0"/>
              <a:t>Permite administrar y monitorear nuestra red. Facilita el intercambio de información de administración entre dispositivos de red. Permite a los administradores supervisar el funcionamiento de la red, buscar y resolver sus problemas, y planear su crecimiento.</a:t>
            </a:r>
          </a:p>
          <a:p>
            <a:r>
              <a:rPr lang="es-GT" sz="2400" b="1" dirty="0"/>
              <a:t>DNS (</a:t>
            </a:r>
            <a:r>
              <a:rPr lang="es-GT" sz="2400" b="1" dirty="0" err="1"/>
              <a:t>Domain</a:t>
            </a:r>
            <a:r>
              <a:rPr lang="es-GT" sz="2400" b="1" dirty="0"/>
              <a:t> </a:t>
            </a:r>
            <a:r>
              <a:rPr lang="es-GT" sz="2400" b="1" dirty="0" err="1"/>
              <a:t>Name</a:t>
            </a:r>
            <a:r>
              <a:rPr lang="es-GT" sz="2400" b="1" dirty="0"/>
              <a:t> </a:t>
            </a:r>
            <a:r>
              <a:rPr lang="es-GT" sz="2400" b="1" dirty="0" err="1"/>
              <a:t>System</a:t>
            </a:r>
            <a:r>
              <a:rPr lang="es-GT" sz="2400" b="1" dirty="0"/>
              <a:t>): </a:t>
            </a:r>
            <a:r>
              <a:rPr lang="es-GT" sz="2400" dirty="0"/>
              <a:t>Resuelve direcciones IP a nombres de dominio.</a:t>
            </a:r>
            <a:endParaRPr lang="es-GT" sz="2400" b="1" dirty="0"/>
          </a:p>
          <a:p>
            <a:endParaRPr lang="es-GT" sz="2400" dirty="0"/>
          </a:p>
        </p:txBody>
      </p:sp>
    </p:spTree>
    <p:extLst>
      <p:ext uri="{BB962C8B-B14F-4D97-AF65-F5344CB8AC3E}">
        <p14:creationId xmlns:p14="http://schemas.microsoft.com/office/powerpoint/2010/main" val="2875905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3BE793-3555-447F-945E-24793D2D1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Ejemplos de la capa de presentación 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97D9F1-19B8-4DFE-8C10-2CEBAE650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Esta capa se asegura de que la información enviada por la capa de aplicación de un sistema será leído por la capa de aplicación de otro</a:t>
            </a:r>
            <a:endParaRPr lang="es-GT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B6F130-BD1A-4D17-A879-94873D0FD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655" y="2971603"/>
            <a:ext cx="4048690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292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51946-E722-4003-90B8-9E355F484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Ejemplos de la capa de </a:t>
            </a:r>
            <a:r>
              <a:rPr lang="es-ES" dirty="0" err="1"/>
              <a:t>session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D6B1AE-AF04-4120-B947-38D302B57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Responsable de mantener los datos de aplicación separados.</a:t>
            </a:r>
            <a:endParaRPr lang="es-GT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AF5CE91-B3D3-43AA-8D16-5F75A0269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392" y="2862074"/>
            <a:ext cx="3877216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036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7E36FA-AB21-4C73-94E0-E81E78D3F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Capa de Transporte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6FE2BB-8BDC-4823-9911-1DD05492B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Provee mecanismos para el establecimiento, mantenimiento y terminación de circuitos virtuales.</a:t>
            </a:r>
          </a:p>
          <a:p>
            <a:r>
              <a:rPr lang="es-ES" dirty="0"/>
              <a:t>Asegura la comunicación confiable entre pares.</a:t>
            </a:r>
          </a:p>
          <a:p>
            <a:pPr marL="0" indent="0">
              <a:buNone/>
            </a:pP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591866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360D6-747F-4917-B421-A0E7E054B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031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200" dirty="0"/>
              <a:t>Vista </a:t>
            </a:r>
            <a:r>
              <a:rPr lang="en-US" sz="3200" dirty="0" err="1"/>
              <a:t>simplificada</a:t>
            </a:r>
            <a:r>
              <a:rPr lang="en-US" sz="3200" dirty="0"/>
              <a:t> de una </a:t>
            </a:r>
            <a:r>
              <a:rPr lang="en-US" sz="3200" dirty="0" err="1"/>
              <a:t>porción</a:t>
            </a:r>
            <a:r>
              <a:rPr lang="en-US" sz="3200" dirty="0"/>
              <a:t> de Internet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2F3B4BE1-7108-4659-A548-BAD2D3CE92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00822" y="1511920"/>
            <a:ext cx="5419311" cy="383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511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92588"/>
            <a:ext cx="91440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GT" sz="2800" dirty="0"/>
              <a:t>En esta capa se recibe el </a:t>
            </a:r>
            <a:r>
              <a:rPr lang="es-GT" sz="2800" dirty="0" err="1"/>
              <a:t>streaming</a:t>
            </a:r>
            <a:r>
              <a:rPr lang="es-GT" sz="2800" dirty="0"/>
              <a:t> data de las UPPER LAYERS y se segmenta en piezas de datos más pequeñas y son enviados por los </a:t>
            </a:r>
            <a:r>
              <a:rPr lang="es-GT" sz="2800" dirty="0" err="1"/>
              <a:t>routers</a:t>
            </a:r>
            <a:r>
              <a:rPr lang="es-GT" sz="2800" dirty="0"/>
              <a:t> para que sean ruteados.</a:t>
            </a:r>
          </a:p>
          <a:p>
            <a:pPr algn="ctr"/>
            <a:endParaRPr lang="es-GT" sz="2800" b="1" dirty="0"/>
          </a:p>
          <a:p>
            <a:pPr algn="ctr"/>
            <a:r>
              <a:rPr lang="es-GT" sz="2800" b="1" dirty="0"/>
              <a:t>PDU: </a:t>
            </a:r>
            <a:r>
              <a:rPr lang="es-GT" sz="2800" b="1" dirty="0" err="1"/>
              <a:t>Protocol</a:t>
            </a:r>
            <a:r>
              <a:rPr lang="es-GT" sz="2800" b="1" dirty="0"/>
              <a:t> Data </a:t>
            </a:r>
            <a:r>
              <a:rPr lang="es-GT" sz="2800" b="1" dirty="0" err="1"/>
              <a:t>Unit</a:t>
            </a:r>
            <a:endParaRPr lang="es-GT" sz="2800" b="1" dirty="0"/>
          </a:p>
          <a:p>
            <a:pPr algn="just"/>
            <a:r>
              <a:rPr lang="es-GT" sz="2800" dirty="0"/>
              <a:t>se utilizan para el intercambio entre unidades disparejas, dentro de una capa del modelo OSI.</a:t>
            </a:r>
          </a:p>
          <a:p>
            <a:pPr algn="just"/>
            <a:endParaRPr lang="es-GT" sz="2800" dirty="0"/>
          </a:p>
          <a:p>
            <a:pPr algn="just"/>
            <a:r>
              <a:rPr lang="es-GT" sz="2800" dirty="0"/>
              <a:t>Segmento: Unidades de piezas más pequeñas que fueron creadas a partir del data </a:t>
            </a:r>
            <a:r>
              <a:rPr lang="es-GT" sz="2800" dirty="0" err="1"/>
              <a:t>streming</a:t>
            </a:r>
            <a:r>
              <a:rPr lang="es-GT" sz="2800" dirty="0"/>
              <a:t> de la </a:t>
            </a:r>
            <a:r>
              <a:rPr lang="es-GT" sz="2800" dirty="0" err="1"/>
              <a:t>app</a:t>
            </a:r>
            <a:r>
              <a:rPr lang="es-GT" sz="2800" dirty="0"/>
              <a:t> lay. </a:t>
            </a:r>
            <a:r>
              <a:rPr lang="es-GT" sz="2800" b="1" dirty="0"/>
              <a:t>Una vez segmentado,  las piezas serán numeradas secuencialmente </a:t>
            </a:r>
            <a:r>
              <a:rPr lang="es-GT" sz="2800" dirty="0"/>
              <a:t>para poder unirlas nuevamente en el equipo remoto.</a:t>
            </a:r>
          </a:p>
          <a:p>
            <a:pPr algn="just"/>
            <a:endParaRPr lang="es-GT" sz="2800" dirty="0"/>
          </a:p>
          <a:p>
            <a:pPr algn="just"/>
            <a:r>
              <a:rPr lang="es-GT" sz="2800" dirty="0"/>
              <a:t>Después serán enviadas utilizando la secuencia, </a:t>
            </a:r>
            <a:r>
              <a:rPr lang="es-GT" sz="2800" dirty="0" err="1"/>
              <a:t>flow</a:t>
            </a:r>
            <a:r>
              <a:rPr lang="es-GT" sz="2800" dirty="0"/>
              <a:t> control y se establece un circuito virtual.</a:t>
            </a:r>
          </a:p>
          <a:p>
            <a:pPr algn="just"/>
            <a:endParaRPr lang="es-GT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AA7605-5CBF-4595-A0F6-015E1F344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Ejemplos de la capa de transporte</a:t>
            </a:r>
            <a:endParaRPr lang="es-GT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99A7917-0116-4930-BD4A-B5F8447C1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7786" y="3120108"/>
            <a:ext cx="4496427" cy="1762371"/>
          </a:xfrm>
        </p:spPr>
      </p:pic>
    </p:spTree>
    <p:extLst>
      <p:ext uri="{BB962C8B-B14F-4D97-AF65-F5344CB8AC3E}">
        <p14:creationId xmlns:p14="http://schemas.microsoft.com/office/powerpoint/2010/main" val="4532905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0E7DC-76C3-45EC-8C1D-397D073A9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Sesiones confiables TCP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06B9DC-771C-4D8E-A5AB-94BBECD11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Niguna</a:t>
            </a:r>
            <a:r>
              <a:rPr lang="es-ES" dirty="0"/>
              <a:t> </a:t>
            </a:r>
            <a:r>
              <a:rPr lang="es-ES" dirty="0" err="1"/>
              <a:t>coneccion</a:t>
            </a:r>
            <a:r>
              <a:rPr lang="es-ES" dirty="0"/>
              <a:t> es </a:t>
            </a:r>
            <a:r>
              <a:rPr lang="es-ES" dirty="0" err="1"/>
              <a:t>garantiada</a:t>
            </a:r>
            <a:r>
              <a:rPr lang="es-ES" dirty="0"/>
              <a:t> pero puede ser confiable si se utiliza TCP</a:t>
            </a:r>
          </a:p>
          <a:p>
            <a:r>
              <a:rPr lang="es-ES" dirty="0"/>
              <a:t>Una sesión confiable significa:</a:t>
            </a:r>
          </a:p>
          <a:p>
            <a:pPr lvl="1"/>
            <a:r>
              <a:rPr lang="es-ES" dirty="0"/>
              <a:t>Un circuito virtual es configurado utilizando puertos</a:t>
            </a:r>
          </a:p>
          <a:p>
            <a:pPr lvl="1"/>
            <a:r>
              <a:rPr lang="es-ES" dirty="0"/>
              <a:t>Cada segmento será secuenciado en números</a:t>
            </a:r>
          </a:p>
          <a:p>
            <a:pPr lvl="1"/>
            <a:r>
              <a:rPr lang="es-ES" dirty="0"/>
              <a:t>El flujo de control es usado para parar de recibir desde el host que </a:t>
            </a:r>
            <a:r>
              <a:rPr lang="es-ES" dirty="0" err="1"/>
              <a:t>envia</a:t>
            </a:r>
            <a:r>
              <a:rPr lang="es-ES" dirty="0"/>
              <a:t> para evitar </a:t>
            </a:r>
            <a:r>
              <a:rPr lang="es-ES" dirty="0" err="1"/>
              <a:t>overflowing</a:t>
            </a:r>
            <a:r>
              <a:rPr lang="es-ES" dirty="0"/>
              <a:t> en su buffer</a:t>
            </a:r>
          </a:p>
          <a:p>
            <a:pPr lvl="1"/>
            <a:r>
              <a:rPr lang="es-ES" dirty="0" err="1"/>
              <a:t>Acknowledfments</a:t>
            </a:r>
            <a:r>
              <a:rPr lang="es-ES" dirty="0"/>
              <a:t> are </a:t>
            </a:r>
            <a:r>
              <a:rPr lang="es-ES" dirty="0" err="1"/>
              <a:t>used</a:t>
            </a:r>
            <a:r>
              <a:rPr lang="es-ES" dirty="0"/>
              <a:t> (confirmaciones)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914285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066503" y="1767086"/>
            <a:ext cx="3968751" cy="3323828"/>
          </a:xfrm>
          <a:prstGeom prst="rect">
            <a:avLst/>
          </a:prstGeom>
          <a:noFill/>
        </p:spPr>
      </p:pic>
      <p:pic>
        <p:nvPicPr>
          <p:cNvPr id="2" name="Picture 2" descr="TCP 3-Way Handshake - by Saurabh Dashora">
            <a:extLst>
              <a:ext uri="{FF2B5EF4-FFF2-40B4-BE49-F238E27FC236}">
                <a16:creationId xmlns:a16="http://schemas.microsoft.com/office/drawing/2014/main" id="{C2BAD776-D54F-4FD2-8918-F1E09DC0C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328" y="1401041"/>
            <a:ext cx="5898672" cy="368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714356"/>
            <a:ext cx="9144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GT" sz="2800" b="1" dirty="0"/>
              <a:t>PUERTOS</a:t>
            </a:r>
          </a:p>
          <a:p>
            <a:pPr algn="just"/>
            <a:r>
              <a:rPr lang="es-GT" sz="2800" dirty="0"/>
              <a:t>Los puertos permiten establecer varios circuitos virtuales para varias aplicaciones utilizando un único host.</a:t>
            </a:r>
          </a:p>
          <a:p>
            <a:pPr algn="just"/>
            <a:endParaRPr lang="es-GT" sz="2800" dirty="0"/>
          </a:p>
          <a:p>
            <a:pPr algn="just"/>
            <a:r>
              <a:rPr lang="es-GT" sz="2800" dirty="0"/>
              <a:t>Si Bob establece una comunicación a un servidor en el puerto 604, quiere decir que el servidor reservará ese puerto para la comunicación de Bob.  Cada servidor ó equipo tiene disponibles 65,535-1 puertos. </a:t>
            </a:r>
          </a:p>
          <a:p>
            <a:pPr algn="just"/>
            <a:endParaRPr lang="es-GT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0546B6-02AF-4E7B-A7FC-C8DDC7F9E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Metodos</a:t>
            </a:r>
            <a:r>
              <a:rPr lang="es-ES" dirty="0"/>
              <a:t> para el control de flujo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E72F5C-6723-4E1F-A94B-3ACC4D00C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Este ocurre en la capa de transporte, algunos métodos:</a:t>
            </a:r>
          </a:p>
          <a:p>
            <a:pPr lvl="1"/>
            <a:r>
              <a:rPr lang="es-ES" dirty="0"/>
              <a:t>Buffers</a:t>
            </a:r>
          </a:p>
          <a:p>
            <a:pPr lvl="1"/>
            <a:r>
              <a:rPr lang="es-ES" dirty="0" err="1"/>
              <a:t>Source-Quench</a:t>
            </a:r>
            <a:r>
              <a:rPr lang="es-ES" dirty="0"/>
              <a:t> </a:t>
            </a:r>
            <a:r>
              <a:rPr lang="es-ES" dirty="0" err="1"/>
              <a:t>Message</a:t>
            </a:r>
            <a:r>
              <a:rPr lang="es-ES" dirty="0"/>
              <a:t> (Stop &amp; </a:t>
            </a:r>
            <a:r>
              <a:rPr lang="es-ES" dirty="0" err="1"/>
              <a:t>Go</a:t>
            </a:r>
            <a:r>
              <a:rPr lang="es-ES" dirty="0"/>
              <a:t>)</a:t>
            </a:r>
          </a:p>
          <a:p>
            <a:pPr lvl="1"/>
            <a:r>
              <a:rPr lang="es-ES" dirty="0" err="1"/>
              <a:t>Congestion</a:t>
            </a:r>
            <a:r>
              <a:rPr lang="es-ES" dirty="0"/>
              <a:t> </a:t>
            </a:r>
            <a:r>
              <a:rPr lang="es-ES" dirty="0" err="1"/>
              <a:t>Avoidance</a:t>
            </a:r>
            <a:r>
              <a:rPr lang="es-ES" dirty="0"/>
              <a:t> (</a:t>
            </a:r>
            <a:r>
              <a:rPr lang="es-ES" dirty="0" err="1"/>
              <a:t>Random</a:t>
            </a:r>
            <a:r>
              <a:rPr lang="es-ES" dirty="0"/>
              <a:t> </a:t>
            </a:r>
            <a:r>
              <a:rPr lang="es-ES" dirty="0" err="1"/>
              <a:t>Early</a:t>
            </a:r>
            <a:r>
              <a:rPr lang="es-ES" dirty="0"/>
              <a:t> </a:t>
            </a:r>
            <a:r>
              <a:rPr lang="es-ES" dirty="0" err="1"/>
              <a:t>Detection</a:t>
            </a:r>
            <a:r>
              <a:rPr lang="es-ES" dirty="0"/>
              <a:t>)</a:t>
            </a:r>
          </a:p>
          <a:p>
            <a:pPr lvl="1"/>
            <a:r>
              <a:rPr lang="es-ES" dirty="0" err="1"/>
              <a:t>Windowing</a:t>
            </a:r>
            <a:r>
              <a:rPr lang="es-ES" dirty="0"/>
              <a:t> (TCP)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4955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B5D74-204E-45A3-9B7B-9B665E240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Buffers</a:t>
            </a:r>
            <a:endParaRPr lang="es-GT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3B1D814-C29C-4824-B32E-AD75D6C939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6733" y="2453265"/>
            <a:ext cx="5258534" cy="3096057"/>
          </a:xfrm>
        </p:spPr>
      </p:pic>
    </p:spTree>
    <p:extLst>
      <p:ext uri="{BB962C8B-B14F-4D97-AF65-F5344CB8AC3E}">
        <p14:creationId xmlns:p14="http://schemas.microsoft.com/office/powerpoint/2010/main" val="29720949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027CB-D821-4583-9237-DD2DC423E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Stop &amp; </a:t>
            </a:r>
            <a:r>
              <a:rPr lang="es-ES" dirty="0" err="1"/>
              <a:t>Go</a:t>
            </a:r>
            <a:endParaRPr lang="es-GT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2D3CBB4-A7CB-4D78-8B4D-3020BDE334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2629" y="2629502"/>
            <a:ext cx="3886742" cy="2743583"/>
          </a:xfrm>
        </p:spPr>
      </p:pic>
    </p:spTree>
    <p:extLst>
      <p:ext uri="{BB962C8B-B14F-4D97-AF65-F5344CB8AC3E}">
        <p14:creationId xmlns:p14="http://schemas.microsoft.com/office/powerpoint/2010/main" val="30042238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1ACCB5-F273-4B01-B7A4-BCDD4DD21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Windowing</a:t>
            </a:r>
            <a:r>
              <a:rPr lang="es-ES" dirty="0"/>
              <a:t> &amp; </a:t>
            </a:r>
            <a:r>
              <a:rPr lang="es-ES" dirty="0" err="1"/>
              <a:t>Acknowledgements</a:t>
            </a:r>
            <a:endParaRPr lang="es-GT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C20F4BC-E625-4E10-ABB3-5A8A01A745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09707" y="2462792"/>
            <a:ext cx="4372585" cy="3077004"/>
          </a:xfrm>
        </p:spPr>
      </p:pic>
    </p:spTree>
    <p:extLst>
      <p:ext uri="{BB962C8B-B14F-4D97-AF65-F5344CB8AC3E}">
        <p14:creationId xmlns:p14="http://schemas.microsoft.com/office/powerpoint/2010/main" val="42509032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950432-7F41-4493-9A1A-F9D8E0B01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Capa de Red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3C27F4-4877-4AB7-BE47-CCB1E976A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Ruteo</a:t>
            </a:r>
            <a:endParaRPr lang="es-GT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B428DE7-C97C-498A-94CE-B41F32585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891" y="2071498"/>
            <a:ext cx="4782217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5219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513E3B-E534-4BC7-8D52-B3033B7CB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Función de ruteo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B2F241-1ED9-48DC-8F30-121E48530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Los </a:t>
            </a:r>
            <a:r>
              <a:rPr lang="es-ES" dirty="0" err="1"/>
              <a:t>routers</a:t>
            </a:r>
            <a:r>
              <a:rPr lang="es-ES" dirty="0"/>
              <a:t> </a:t>
            </a:r>
            <a:r>
              <a:rPr lang="es-ES" dirty="0" err="1"/>
              <a:t>poveen</a:t>
            </a:r>
            <a:r>
              <a:rPr lang="es-ES" dirty="0"/>
              <a:t> </a:t>
            </a:r>
            <a:r>
              <a:rPr lang="es-ES" dirty="0" err="1"/>
              <a:t>interconeccion</a:t>
            </a:r>
            <a:r>
              <a:rPr lang="es-ES" dirty="0"/>
              <a:t> entre redes, </a:t>
            </a:r>
            <a:r>
              <a:rPr lang="es-ES" dirty="0" err="1"/>
              <a:t>packet</a:t>
            </a:r>
            <a:r>
              <a:rPr lang="es-ES" dirty="0"/>
              <a:t> </a:t>
            </a:r>
            <a:r>
              <a:rPr lang="es-ES" dirty="0" err="1"/>
              <a:t>switching</a:t>
            </a:r>
            <a:r>
              <a:rPr lang="es-ES" dirty="0"/>
              <a:t>, filtrado de paquetes y selección del camino</a:t>
            </a:r>
            <a:endParaRPr lang="es-GT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F454370-4E03-4BCA-8F90-6991321EB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917" y="3390740"/>
            <a:ext cx="4944165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4980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5653D6-D6D7-43BA-92D0-6EB367527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Enlace de datos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419763-E33F-4A9A-8549-487B1F4CF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Provee transformación física de los datos</a:t>
            </a:r>
            <a:endParaRPr lang="es-GT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055C0C3-7A23-42D8-94F5-F466D4866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208" y="2819206"/>
            <a:ext cx="3467584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0098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5C03C0-2707-43F1-831C-8BCF42696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Sub-capas</a:t>
            </a:r>
            <a:r>
              <a:rPr lang="es-ES" dirty="0"/>
              <a:t> de la capa de enlace de datos IEEE</a:t>
            </a:r>
            <a:endParaRPr lang="es-GT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6FFF4A3-C8FA-4BC8-9F19-895722F98B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0101" y="2343712"/>
            <a:ext cx="4991797" cy="3315163"/>
          </a:xfrm>
        </p:spPr>
      </p:pic>
    </p:spTree>
    <p:extLst>
      <p:ext uri="{BB962C8B-B14F-4D97-AF65-F5344CB8AC3E}">
        <p14:creationId xmlns:p14="http://schemas.microsoft.com/office/powerpoint/2010/main" val="42718943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3F375D-9354-4502-99E4-228A010E1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Direcciones MAC</a:t>
            </a:r>
            <a:endParaRPr lang="es-GT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E2BDE72-9894-4377-9742-8B051569CA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0260" y="2296081"/>
            <a:ext cx="3791479" cy="3410426"/>
          </a:xfrm>
        </p:spPr>
      </p:pic>
    </p:spTree>
    <p:extLst>
      <p:ext uri="{BB962C8B-B14F-4D97-AF65-F5344CB8AC3E}">
        <p14:creationId xmlns:p14="http://schemas.microsoft.com/office/powerpoint/2010/main" val="36397123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975</Words>
  <Application>Microsoft Office PowerPoint</Application>
  <PresentationFormat>Panorámica</PresentationFormat>
  <Paragraphs>110</Paragraphs>
  <Slides>34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Tema de Office</vt:lpstr>
      <vt:lpstr>Modelos de networking TCP/IP y OSI/ISO</vt:lpstr>
      <vt:lpstr>El ancho de banda</vt:lpstr>
      <vt:lpstr>Medición</vt:lpstr>
      <vt:lpstr>Limitaciones</vt:lpstr>
      <vt:lpstr>Modelo OSI/ISO</vt:lpstr>
      <vt:lpstr>Protocolos de TCP/IP</vt:lpstr>
      <vt:lpstr>Proceso detallado de encapsulamiento</vt:lpstr>
      <vt:lpstr>Modelo de referencia OSI/ISO</vt:lpstr>
      <vt:lpstr>ISO</vt:lpstr>
      <vt:lpstr>Agrupando las capas en funciones</vt:lpstr>
      <vt:lpstr>Capas superiores</vt:lpstr>
      <vt:lpstr>Capas intermedias</vt:lpstr>
      <vt:lpstr>Capas inferiores</vt:lpstr>
      <vt:lpstr>Ejemplos de la capa de aplicación </vt:lpstr>
      <vt:lpstr>Presentación de PowerPoint</vt:lpstr>
      <vt:lpstr>Presentación de PowerPoint</vt:lpstr>
      <vt:lpstr>Ejemplos de la capa de presentación </vt:lpstr>
      <vt:lpstr>Ejemplos de la capa de session</vt:lpstr>
      <vt:lpstr>Capa de Transporte</vt:lpstr>
      <vt:lpstr>Vista simplificada de una porción de Internet</vt:lpstr>
      <vt:lpstr>Presentación de PowerPoint</vt:lpstr>
      <vt:lpstr>Ejemplos de la capa de transporte</vt:lpstr>
      <vt:lpstr>Sesiones confiables TCP</vt:lpstr>
      <vt:lpstr>Presentación de PowerPoint</vt:lpstr>
      <vt:lpstr>Presentación de PowerPoint</vt:lpstr>
      <vt:lpstr>Metodos para el control de flujo</vt:lpstr>
      <vt:lpstr>Buffers</vt:lpstr>
      <vt:lpstr>Stop &amp; Go</vt:lpstr>
      <vt:lpstr>Windowing &amp; Acknowledgements</vt:lpstr>
      <vt:lpstr>Capa de Red</vt:lpstr>
      <vt:lpstr>Función de ruteo</vt:lpstr>
      <vt:lpstr>Enlace de datos</vt:lpstr>
      <vt:lpstr>Sub-capas de la capa de enlace de datos IEEE</vt:lpstr>
      <vt:lpstr>Direcciones MAC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Referencia OSI</dc:title>
  <dc:creator>QTZ_A220</dc:creator>
  <cp:lastModifiedBy>QTZ_A230</cp:lastModifiedBy>
  <cp:revision>8</cp:revision>
  <dcterms:created xsi:type="dcterms:W3CDTF">2024-07-31T13:11:13Z</dcterms:created>
  <dcterms:modified xsi:type="dcterms:W3CDTF">2026-08-19T14:50:01Z</dcterms:modified>
</cp:coreProperties>
</file>